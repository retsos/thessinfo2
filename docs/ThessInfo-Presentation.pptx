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3895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DAAAD">
              <a:alpha val="12000"/>
            </a:srgbClr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3" name="Shape 1"/>
          <p:cNvSpPr/>
          <p:nvPr/>
        </p:nvSpPr>
        <p:spPr>
          <a:xfrm>
            <a:off x="5943600" y="2743200"/>
            <a:ext cx="4572000" cy="4572000"/>
          </a:xfrm>
          <a:prstGeom prst="ellipse">
            <a:avLst/>
          </a:prstGeom>
          <a:solidFill>
            <a:srgbClr val="22C55E">
              <a:alpha val="10000"/>
            </a:srgbClr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4" name="Shape 2"/>
          <p:cNvSpPr/>
          <p:nvPr/>
        </p:nvSpPr>
        <p:spPr>
          <a:xfrm>
            <a:off x="548640" y="365760"/>
            <a:ext cx="493776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 w="635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57200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87552" y="36576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ΔΙ.ΠΑ.Ε.  •  ΤΜΗΜΑ ΜΗΧΑΝΙΚΩΝ ΠΛΗΡΟΦΟΡΙΚΗΣ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841248"/>
            <a:ext cx="6126480" cy="365760"/>
          </a:xfrm>
          <a:prstGeom prst="roundRect">
            <a:avLst>
              <a:gd name="adj" fmla="val 50000"/>
            </a:avLst>
          </a:prstGeom>
          <a:solidFill>
            <a:srgbClr val="1DAAAD">
              <a:alpha val="30000"/>
            </a:srgbClr>
          </a:solidFill>
          <a:ln w="9525">
            <a:solidFill>
              <a:srgbClr val="1DAAAD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8" name="Text 5"/>
          <p:cNvSpPr/>
          <p:nvPr/>
        </p:nvSpPr>
        <p:spPr>
          <a:xfrm>
            <a:off x="548640" y="84124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ΔΙΑΔΙΚΤΥΑΚΕΣ ΥΠΗΡΕΣΙΕΣ ΠΡΟΣΤΙΘΕΜΕΝΗΣ ΑΞΙΑΣ  •  8ο ΕΞΑΜΗΝΟ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48640" y="1417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ThessInfo</a:t>
            </a:r>
            <a:endParaRPr lang="en-US" sz="7200" dirty="0"/>
          </a:p>
        </p:txBody>
      </p:sp>
      <p:sp>
        <p:nvSpPr>
          <p:cNvPr id="10" name="Text 7"/>
          <p:cNvSpPr/>
          <p:nvPr/>
        </p:nvSpPr>
        <p:spPr>
          <a:xfrm>
            <a:off x="548640" y="2542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Περιβαλλοντικά Δεδομένα Θεσσαλονίκης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548640" y="30175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Πλατφόρμα συγκέντρωσης, υπολογισμού και οπτικοποίησης των δεικτών ποιότητας αέρα, νερού και ανακύκλωσης ανά Δήμο.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3703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1DA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ΦΟΙΤΗΤΕΣ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" y="3950208"/>
            <a:ext cx="365760" cy="22860"/>
          </a:xfrm>
          <a:prstGeom prst="rect">
            <a:avLst/>
          </a:prstGeom>
          <a:solidFill>
            <a:srgbClr val="1DAAAD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14" name="Shape 11"/>
          <p:cNvSpPr/>
          <p:nvPr/>
        </p:nvSpPr>
        <p:spPr>
          <a:xfrm>
            <a:off x="548640" y="4069080"/>
            <a:ext cx="3931920" cy="685800"/>
          </a:xfrm>
          <a:prstGeom prst="roundRect">
            <a:avLst>
              <a:gd name="adj" fmla="val 16000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5" name="Shape 12"/>
          <p:cNvSpPr/>
          <p:nvPr/>
        </p:nvSpPr>
        <p:spPr>
          <a:xfrm>
            <a:off x="548640" y="4069080"/>
            <a:ext cx="73152" cy="685800"/>
          </a:xfrm>
          <a:prstGeom prst="rect">
            <a:avLst/>
          </a:prstGeom>
          <a:solidFill>
            <a:srgbClr val="1DAAAD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16" name="Text 13"/>
          <p:cNvSpPr/>
          <p:nvPr/>
        </p:nvSpPr>
        <p:spPr>
          <a:xfrm>
            <a:off x="749808" y="40965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Ρετσιλάς Γεώργιος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49808" y="44165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ΑΜ 2022143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09160" y="4069080"/>
            <a:ext cx="3931920" cy="685800"/>
          </a:xfrm>
          <a:prstGeom prst="roundRect">
            <a:avLst>
              <a:gd name="adj" fmla="val 16000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9" name="Shape 16"/>
          <p:cNvSpPr/>
          <p:nvPr/>
        </p:nvSpPr>
        <p:spPr>
          <a:xfrm>
            <a:off x="4709160" y="4069080"/>
            <a:ext cx="73152" cy="685800"/>
          </a:xfrm>
          <a:prstGeom prst="rect">
            <a:avLst/>
          </a:prstGeom>
          <a:solidFill>
            <a:srgbClr val="1DAAAD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20" name="Text 17"/>
          <p:cNvSpPr/>
          <p:nvPr/>
        </p:nvSpPr>
        <p:spPr>
          <a:xfrm>
            <a:off x="4910328" y="40965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Σαλτσίδης Ηλίας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910328" y="44165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ΑΜ 2022149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4864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Παρουσίαση Εφαρμογής  • 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DA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ΠΡΟΒΛΗΜΑ &amp; ΣΤΟΧΟΣ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Γιατί χρειάζεται μια τέτοια πλατφόρμα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πρόβλημα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Τα περιβαλλοντικά δεδομένα της πόλης είναι διασκορπισμένα σε διαφορετικές πηγές, σε διαφορετικές μορφές και χωρίς κοινή αξιολόγηση.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μέσος χρήστης δεν μπορεί να καταλάβει εύκολα αν ο αέρας είναι «καλός», αν το νερό «πίνεται», ή ποια περιοχή ανακυκλώνει σωστά.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937760" y="1554480"/>
            <a:ext cx="37490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FF0"/>
            </a:solidFill>
            <a:prstDash val="solid"/>
          </a:ln>
          <a:effectLst>
            <a:outerShdw blurRad="152400" dist="38100" dir="5400000" algn="bl" rotWithShape="0">
              <a:srgbClr val="0F766E">
                <a:alpha val="8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7" name="Shape 5"/>
          <p:cNvSpPr/>
          <p:nvPr/>
        </p:nvSpPr>
        <p:spPr>
          <a:xfrm>
            <a:off x="4937760" y="1554480"/>
            <a:ext cx="73152" cy="3017520"/>
          </a:xfrm>
          <a:prstGeom prst="rect">
            <a:avLst/>
          </a:prstGeom>
          <a:solidFill>
            <a:srgbClr val="1DAAAD"/>
          </a:solidFill>
          <a:ln/>
        </p:spPr>
        <p:txBody>
          <a:bodyPr/>
          <a:lstStyle/>
          <a:p>
            <a:endParaRPr lang="el-G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178308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23560" y="1737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λύση μας</a:t>
            </a:r>
            <a:endParaRPr lang="en-US" sz="17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2404872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0" y="2331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Ενοποιημένη συγκέντρωση των δεδομένων (αέρας, νερό, ανακύκλωση)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2916936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86400" y="284378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Υπολογισμός επιστημονικών δεικτών (AQI, WQI, EQI)</a:t>
            </a:r>
            <a:endParaRPr 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3429000"/>
            <a:ext cx="182880" cy="1828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486400" y="33558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Ξεκάθαρες, χρωματικά κωδικοποιημένες ενδείξεις ανά Δήμο</a:t>
            </a:r>
            <a:endParaRPr lang="en-US" sz="1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3941064"/>
            <a:ext cx="182880" cy="1828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486400" y="38679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Διαδραστικός χάρτης + κατάταξη + αναζήτηση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ThessInfo • Περιβαλλοντικά Δεδομένα Θεσσαλονίκης</a:t>
            </a:r>
            <a:endParaRPr lang="en-US" sz="900" dirty="0"/>
          </a:p>
        </p:txBody>
      </p:sp>
      <p:sp>
        <p:nvSpPr>
          <p:cNvPr id="19" name="Text 12"/>
          <p:cNvSpPr/>
          <p:nvPr/>
        </p:nvSpPr>
        <p:spPr>
          <a:xfrm>
            <a:off x="8229600" y="4800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DA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ΕΠΙΣΚΟΠΗΣΗ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Τρεις θεματικές, ένας ενιαίος δείκτης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εφαρμογή συγκεντρώνει 3 πυλώνες δεδομένων και τους συνθέτει σε έναν σύνθετο δείκτη.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FF0"/>
            </a:solidFill>
            <a:prstDash val="solid"/>
          </a:ln>
          <a:effectLst>
            <a:outerShdw blurRad="152400" dist="38100" dir="5400000" algn="bl" rotWithShape="0">
              <a:srgbClr val="0F766E">
                <a:alpha val="8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651760" cy="73152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640080" cy="640080"/>
          </a:xfrm>
          <a:prstGeom prst="ellipse">
            <a:avLst/>
          </a:prstGeom>
          <a:solidFill>
            <a:srgbClr val="0F766E">
              <a:alpha val="12000"/>
            </a:srgbClr>
          </a:solidFill>
          <a:ln/>
        </p:spPr>
        <p:txBody>
          <a:bodyPr/>
          <a:lstStyle/>
          <a:p>
            <a:endParaRPr lang="el-G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3500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2926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Αέρας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31520" y="3337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36576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Μέτρηση NO₂, SO₂, O₃, CO, NO σε σχέση με τα όρια του WHO. Ανά Δήμο και ανά μήνα.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291840" y="192024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FF0"/>
            </a:solidFill>
            <a:prstDash val="solid"/>
          </a:ln>
          <a:effectLst>
            <a:outerShdw blurRad="152400" dist="38100" dir="5400000" algn="bl" rotWithShape="0">
              <a:srgbClr val="0F766E">
                <a:alpha val="8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13" name="Shape 10"/>
          <p:cNvSpPr/>
          <p:nvPr/>
        </p:nvSpPr>
        <p:spPr>
          <a:xfrm>
            <a:off x="3291840" y="1920240"/>
            <a:ext cx="265176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14" name="Shape 11"/>
          <p:cNvSpPr/>
          <p:nvPr/>
        </p:nvSpPr>
        <p:spPr>
          <a:xfrm>
            <a:off x="3566160" y="2194560"/>
            <a:ext cx="640080" cy="640080"/>
          </a:xfrm>
          <a:prstGeom prst="ellipse">
            <a:avLst/>
          </a:prstGeom>
          <a:solidFill>
            <a:srgbClr val="0891B2">
              <a:alpha val="12000"/>
            </a:srgbClr>
          </a:solidFill>
          <a:ln/>
        </p:spPr>
        <p:txBody>
          <a:bodyPr/>
          <a:lstStyle/>
          <a:p>
            <a:endParaRPr lang="el-GR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1608" y="2350008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66160" y="2926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Νερό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3566160" y="3337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WQI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566160" y="36576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Παράμετροι όπως pH, Θολότητα, Χλωριούχα, Αγωγιμότητα, Αργίλιο, Υπολειμματικό χλώριο.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126480" y="192024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FF0"/>
            </a:solidFill>
            <a:prstDash val="solid"/>
          </a:ln>
          <a:effectLst>
            <a:outerShdw blurRad="152400" dist="38100" dir="5400000" algn="bl" rotWithShape="0">
              <a:srgbClr val="0F766E">
                <a:alpha val="8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20" name="Shape 16"/>
          <p:cNvSpPr/>
          <p:nvPr/>
        </p:nvSpPr>
        <p:spPr>
          <a:xfrm>
            <a:off x="6126480" y="1920240"/>
            <a:ext cx="2651760" cy="7315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21" name="Shape 17"/>
          <p:cNvSpPr/>
          <p:nvPr/>
        </p:nvSpPr>
        <p:spPr>
          <a:xfrm>
            <a:off x="6400800" y="2194560"/>
            <a:ext cx="640080" cy="640080"/>
          </a:xfrm>
          <a:prstGeom prst="ellipse">
            <a:avLst/>
          </a:prstGeom>
          <a:solidFill>
            <a:srgbClr val="22C55E">
              <a:alpha val="12000"/>
            </a:srgbClr>
          </a:solidFill>
          <a:ln/>
        </p:spPr>
        <p:txBody>
          <a:bodyPr/>
          <a:lstStyle/>
          <a:p>
            <a:endParaRPr lang="el-GR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248" y="2350008"/>
            <a:ext cx="329184" cy="32918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00800" y="2926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Ανακύκλωση</a:t>
            </a:r>
            <a:endParaRPr lang="en-US" sz="2000" dirty="0"/>
          </a:p>
        </p:txBody>
      </p:sp>
      <p:sp>
        <p:nvSpPr>
          <p:cNvPr id="24" name="Text 19"/>
          <p:cNvSpPr/>
          <p:nvPr/>
        </p:nvSpPr>
        <p:spPr>
          <a:xfrm>
            <a:off x="6400800" y="3337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kg/κάτ.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400800" y="36576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Κιλά ανά κάτοικο και Efficiency διαλογής στο Κέντρο Διαλογής (ΚΔΑΥ).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ThessInfo • Περιβαλλοντικά Δεδομένα Θεσσαλονίκης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8229600" y="4800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DA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ΑΡΧΙΤΕΚΤΟΝΙΚΗ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Πώς δομείται η εφαρμογή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Σαφής διαχωρισμός backend (data engine) και frontend (visualization layer).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40233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FF0"/>
            </a:solidFill>
            <a:prstDash val="solid"/>
          </a:ln>
          <a:effectLst>
            <a:outerShdw blurRad="152400" dist="38100" dir="5400000" algn="bl" rotWithShape="0">
              <a:srgbClr val="0F766E">
                <a:alpha val="8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6" name="Shape 4"/>
          <p:cNvSpPr/>
          <p:nvPr/>
        </p:nvSpPr>
        <p:spPr>
          <a:xfrm>
            <a:off x="685800" y="2103120"/>
            <a:ext cx="502920" cy="502920"/>
          </a:xfrm>
          <a:prstGeom prst="ellipse">
            <a:avLst/>
          </a:prstGeom>
          <a:solidFill>
            <a:srgbClr val="0F766E">
              <a:alpha val="15000"/>
            </a:srgbClr>
          </a:solidFill>
          <a:ln/>
        </p:spPr>
        <p:txBody>
          <a:bodyPr/>
          <a:lstStyle/>
          <a:p>
            <a:endParaRPr lang="el-G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22199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0848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32588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• Python 3 • Vercel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85800" y="278892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 ανά θεματική: air / water / recycle / sharedqi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datasheets ως πηγή — caching με lru_cache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Καθαρισμός &amp; κανονικοποίηση raw τιμών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Υπολογισμός AQI, WQI και σύνθετου EQI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για localhost + production deployments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63440" y="1920240"/>
            <a:ext cx="40233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FF0"/>
            </a:solidFill>
            <a:prstDash val="solid"/>
          </a:ln>
          <a:effectLst>
            <a:outerShdw blurRad="152400" dist="38100" dir="5400000" algn="bl" rotWithShape="0">
              <a:srgbClr val="0F766E">
                <a:alpha val="8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12" name="Shape 9"/>
          <p:cNvSpPr/>
          <p:nvPr/>
        </p:nvSpPr>
        <p:spPr>
          <a:xfrm>
            <a:off x="4892040" y="2103120"/>
            <a:ext cx="502920" cy="502920"/>
          </a:xfrm>
          <a:prstGeom prst="ellipse">
            <a:avLst/>
          </a:prstGeom>
          <a:solidFill>
            <a:srgbClr val="1DAAAD">
              <a:alpha val="20000"/>
            </a:srgbClr>
          </a:solidFill>
          <a:ln/>
        </p:spPr>
        <p:txBody>
          <a:bodyPr/>
          <a:lstStyle/>
          <a:p>
            <a:endParaRPr lang="el-G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222199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32120" y="20848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5532120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DA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• React 19 • Tailwind 4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892040" y="278892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Διαδραστικός χάρτης με Leaflet + GeoJSON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store για caching + dedup των αιτημάτων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για γραφήματα ανά περιοχή και μετρική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routes ανά Δήμο (/services/[slug])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Ελληνικό UI, responsive, mobile-first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ThessInfo • Περιβαλλοντικά Δεδομένα Θεσσαλονίκης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8229600" y="4800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DA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AIR QUALITY INDEX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 — Δείκτης Ποιότητας Αέρα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Σύγκριση μέσων μηνιαίων τιμών ρύπων με τα όρια του WHO (Παγκόσμιος Οργανισμός Υγείας).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20040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FF0"/>
            </a:solidFill>
            <a:prstDash val="solid"/>
          </a:ln>
          <a:effectLst>
            <a:outerShdw blurRad="152400" dist="38100" dir="5400000" algn="bl" rotWithShape="0">
              <a:srgbClr val="0F766E">
                <a:alpha val="8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200400" cy="73152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l-G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116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Υπολογισμός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2468880"/>
            <a:ext cx="2834640" cy="502920"/>
          </a:xfrm>
          <a:prstGeom prst="rect">
            <a:avLst/>
          </a:prstGeom>
          <a:solidFill>
            <a:srgbClr val="F7FCFC"/>
          </a:solidFill>
          <a:ln w="6350">
            <a:solidFill>
              <a:srgbClr val="D7EFF0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0" name="Text 7"/>
          <p:cNvSpPr/>
          <p:nvPr/>
        </p:nvSpPr>
        <p:spPr>
          <a:xfrm>
            <a:off x="640080" y="24688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(τιμή / όριο WHO) × 100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3108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Ρύποι που μετρώνται: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33832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NO₂ • SO₂ • O₃ • CO • NO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40080" y="37033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Μέγιστο index = AQI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395020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ρύπος με τη μεγαλύτερη τιμή ορίζεται ως «κυρίαρχος» (dominant pollutant).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886200" y="1783080"/>
            <a:ext cx="2331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FF0"/>
            </a:solidFill>
            <a:prstDash val="solid"/>
          </a:ln>
          <a:effectLst>
            <a:outerShdw blurRad="152400" dist="38100" dir="5400000" algn="bl" rotWithShape="0">
              <a:srgbClr val="0F766E">
                <a:alpha val="8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16" name="Shape 13"/>
          <p:cNvSpPr/>
          <p:nvPr/>
        </p:nvSpPr>
        <p:spPr>
          <a:xfrm>
            <a:off x="3886200" y="1783080"/>
            <a:ext cx="73152" cy="804672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17" name="Shape 14"/>
          <p:cNvSpPr/>
          <p:nvPr/>
        </p:nvSpPr>
        <p:spPr>
          <a:xfrm>
            <a:off x="4087368" y="1984248"/>
            <a:ext cx="384048" cy="384048"/>
          </a:xfrm>
          <a:prstGeom prst="ellipse">
            <a:avLst/>
          </a:prstGeom>
          <a:solidFill>
            <a:srgbClr val="16A34A">
              <a:alpha val="20000"/>
            </a:srgbClr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18" name="Shape 15"/>
          <p:cNvSpPr/>
          <p:nvPr/>
        </p:nvSpPr>
        <p:spPr>
          <a:xfrm>
            <a:off x="4178808" y="2075688"/>
            <a:ext cx="201168" cy="201168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19" name="Text 16"/>
          <p:cNvSpPr/>
          <p:nvPr/>
        </p:nvSpPr>
        <p:spPr>
          <a:xfrm>
            <a:off x="4572000" y="18745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0–50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0" y="21671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Καλή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355080" y="1783080"/>
            <a:ext cx="2331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FF0"/>
            </a:solidFill>
            <a:prstDash val="solid"/>
          </a:ln>
          <a:effectLst>
            <a:outerShdw blurRad="152400" dist="38100" dir="5400000" algn="bl" rotWithShape="0">
              <a:srgbClr val="0F766E">
                <a:alpha val="8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22" name="Shape 19"/>
          <p:cNvSpPr/>
          <p:nvPr/>
        </p:nvSpPr>
        <p:spPr>
          <a:xfrm>
            <a:off x="6355080" y="1783080"/>
            <a:ext cx="73152" cy="804672"/>
          </a:xfrm>
          <a:prstGeom prst="rect">
            <a:avLst/>
          </a:prstGeom>
          <a:solidFill>
            <a:srgbClr val="FACC15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23" name="Shape 20"/>
          <p:cNvSpPr/>
          <p:nvPr/>
        </p:nvSpPr>
        <p:spPr>
          <a:xfrm>
            <a:off x="6556248" y="1984248"/>
            <a:ext cx="384048" cy="384048"/>
          </a:xfrm>
          <a:prstGeom prst="ellipse">
            <a:avLst/>
          </a:prstGeom>
          <a:solidFill>
            <a:srgbClr val="FACC15">
              <a:alpha val="20000"/>
            </a:srgbClr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24" name="Shape 21"/>
          <p:cNvSpPr/>
          <p:nvPr/>
        </p:nvSpPr>
        <p:spPr>
          <a:xfrm>
            <a:off x="6647688" y="2075688"/>
            <a:ext cx="201168" cy="201168"/>
          </a:xfrm>
          <a:prstGeom prst="ellipse">
            <a:avLst/>
          </a:prstGeom>
          <a:solidFill>
            <a:srgbClr val="FACC15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25" name="Text 22"/>
          <p:cNvSpPr/>
          <p:nvPr/>
        </p:nvSpPr>
        <p:spPr>
          <a:xfrm>
            <a:off x="7040880" y="18745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51–100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040880" y="21671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Μέτρια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3886200" y="2706624"/>
            <a:ext cx="2331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FF0"/>
            </a:solidFill>
            <a:prstDash val="solid"/>
          </a:ln>
          <a:effectLst>
            <a:outerShdw blurRad="152400" dist="38100" dir="5400000" algn="bl" rotWithShape="0">
              <a:srgbClr val="0F766E">
                <a:alpha val="8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28" name="Shape 25"/>
          <p:cNvSpPr/>
          <p:nvPr/>
        </p:nvSpPr>
        <p:spPr>
          <a:xfrm>
            <a:off x="3886200" y="2706624"/>
            <a:ext cx="73152" cy="80467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29" name="Shape 26"/>
          <p:cNvSpPr/>
          <p:nvPr/>
        </p:nvSpPr>
        <p:spPr>
          <a:xfrm>
            <a:off x="4087368" y="2907792"/>
            <a:ext cx="384048" cy="384048"/>
          </a:xfrm>
          <a:prstGeom prst="ellipse">
            <a:avLst/>
          </a:prstGeom>
          <a:solidFill>
            <a:srgbClr val="F59E0B">
              <a:alpha val="20000"/>
            </a:srgbClr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30" name="Shape 27"/>
          <p:cNvSpPr/>
          <p:nvPr/>
        </p:nvSpPr>
        <p:spPr>
          <a:xfrm>
            <a:off x="4178808" y="2999232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31" name="Text 28"/>
          <p:cNvSpPr/>
          <p:nvPr/>
        </p:nvSpPr>
        <p:spPr>
          <a:xfrm>
            <a:off x="4572000" y="279806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101–150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4572000" y="30906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Ανθυγ. για ευαίσθητους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355080" y="2706624"/>
            <a:ext cx="2331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FF0"/>
            </a:solidFill>
            <a:prstDash val="solid"/>
          </a:ln>
          <a:effectLst>
            <a:outerShdw blurRad="152400" dist="38100" dir="5400000" algn="bl" rotWithShape="0">
              <a:srgbClr val="0F766E">
                <a:alpha val="8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34" name="Shape 31"/>
          <p:cNvSpPr/>
          <p:nvPr/>
        </p:nvSpPr>
        <p:spPr>
          <a:xfrm>
            <a:off x="6355080" y="2706624"/>
            <a:ext cx="73152" cy="80467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35" name="Shape 32"/>
          <p:cNvSpPr/>
          <p:nvPr/>
        </p:nvSpPr>
        <p:spPr>
          <a:xfrm>
            <a:off x="6556248" y="2907792"/>
            <a:ext cx="384048" cy="384048"/>
          </a:xfrm>
          <a:prstGeom prst="ellipse">
            <a:avLst/>
          </a:prstGeom>
          <a:solidFill>
            <a:srgbClr val="EF4444">
              <a:alpha val="20000"/>
            </a:srgbClr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36" name="Shape 33"/>
          <p:cNvSpPr/>
          <p:nvPr/>
        </p:nvSpPr>
        <p:spPr>
          <a:xfrm>
            <a:off x="6647688" y="2999232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37" name="Text 34"/>
          <p:cNvSpPr/>
          <p:nvPr/>
        </p:nvSpPr>
        <p:spPr>
          <a:xfrm>
            <a:off x="7040880" y="279806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151–200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7040880" y="30906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Ανθυγιεινή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3886200" y="3630168"/>
            <a:ext cx="2331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FF0"/>
            </a:solidFill>
            <a:prstDash val="solid"/>
          </a:ln>
          <a:effectLst>
            <a:outerShdw blurRad="152400" dist="38100" dir="5400000" algn="bl" rotWithShape="0">
              <a:srgbClr val="0F766E">
                <a:alpha val="8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40" name="Shape 37"/>
          <p:cNvSpPr/>
          <p:nvPr/>
        </p:nvSpPr>
        <p:spPr>
          <a:xfrm>
            <a:off x="3886200" y="3630168"/>
            <a:ext cx="73152" cy="804672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41" name="Shape 38"/>
          <p:cNvSpPr/>
          <p:nvPr/>
        </p:nvSpPr>
        <p:spPr>
          <a:xfrm>
            <a:off x="4087368" y="3831336"/>
            <a:ext cx="384048" cy="384048"/>
          </a:xfrm>
          <a:prstGeom prst="ellipse">
            <a:avLst/>
          </a:prstGeom>
          <a:solidFill>
            <a:srgbClr val="A855F7">
              <a:alpha val="20000"/>
            </a:srgbClr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42" name="Shape 39"/>
          <p:cNvSpPr/>
          <p:nvPr/>
        </p:nvSpPr>
        <p:spPr>
          <a:xfrm>
            <a:off x="4178808" y="3922776"/>
            <a:ext cx="201168" cy="201168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43" name="Text 40"/>
          <p:cNvSpPr/>
          <p:nvPr/>
        </p:nvSpPr>
        <p:spPr>
          <a:xfrm>
            <a:off x="4572000" y="372160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201–300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4572000" y="401421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Πολύ ανθυγιεινή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6355080" y="3630168"/>
            <a:ext cx="2331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FF0"/>
            </a:solidFill>
            <a:prstDash val="solid"/>
          </a:ln>
          <a:effectLst>
            <a:outerShdw blurRad="152400" dist="38100" dir="5400000" algn="bl" rotWithShape="0">
              <a:srgbClr val="0F766E">
                <a:alpha val="8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46" name="Shape 43"/>
          <p:cNvSpPr/>
          <p:nvPr/>
        </p:nvSpPr>
        <p:spPr>
          <a:xfrm>
            <a:off x="6355080" y="3630168"/>
            <a:ext cx="73152" cy="804672"/>
          </a:xfrm>
          <a:prstGeom prst="rect">
            <a:avLst/>
          </a:prstGeom>
          <a:solidFill>
            <a:srgbClr val="7F1D1D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47" name="Shape 44"/>
          <p:cNvSpPr/>
          <p:nvPr/>
        </p:nvSpPr>
        <p:spPr>
          <a:xfrm>
            <a:off x="6556248" y="3831336"/>
            <a:ext cx="384048" cy="384048"/>
          </a:xfrm>
          <a:prstGeom prst="ellipse">
            <a:avLst/>
          </a:prstGeom>
          <a:solidFill>
            <a:srgbClr val="7F1D1D">
              <a:alpha val="20000"/>
            </a:srgbClr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48" name="Shape 45"/>
          <p:cNvSpPr/>
          <p:nvPr/>
        </p:nvSpPr>
        <p:spPr>
          <a:xfrm>
            <a:off x="6647688" y="3922776"/>
            <a:ext cx="201168" cy="201168"/>
          </a:xfrm>
          <a:prstGeom prst="ellipse">
            <a:avLst/>
          </a:prstGeom>
          <a:solidFill>
            <a:srgbClr val="7F1D1D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49" name="Text 46"/>
          <p:cNvSpPr/>
          <p:nvPr/>
        </p:nvSpPr>
        <p:spPr>
          <a:xfrm>
            <a:off x="7040880" y="372160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301–500</a:t>
            </a:r>
            <a:endParaRPr lang="en-US" sz="1300" dirty="0"/>
          </a:p>
        </p:txBody>
      </p:sp>
      <p:sp>
        <p:nvSpPr>
          <p:cNvPr id="50" name="Text 47"/>
          <p:cNvSpPr/>
          <p:nvPr/>
        </p:nvSpPr>
        <p:spPr>
          <a:xfrm>
            <a:off x="7040880" y="401421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Επικίνδυνη</a:t>
            </a:r>
            <a:endParaRPr lang="en-US" sz="1050" dirty="0"/>
          </a:p>
        </p:txBody>
      </p:sp>
      <p:sp>
        <p:nvSpPr>
          <p:cNvPr id="51" name="Text 48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ThessInfo • Περιβαλλοντικά Δεδομένα Θεσσαλονίκης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8229600" y="4800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DA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WATER QUALITY INDEX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WQI — Δείκτης Ποιότητας Νερού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Σταθμισμένος μέσος όρος βάσει 6 φυσικοχημικών παραμέτρων με διαφορετικό βάρος (Wi).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41148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FF0"/>
            </a:solidFill>
            <a:prstDash val="solid"/>
          </a:ln>
          <a:effectLst>
            <a:outerShdw blurRad="152400" dist="38100" dir="5400000" algn="bl" rotWithShape="0">
              <a:srgbClr val="0F766E">
                <a:alpha val="8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1148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l-G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116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965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Τύπος &amp; Βάρη Παραμέτρων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2468880"/>
            <a:ext cx="3749040" cy="457200"/>
          </a:xfrm>
          <a:prstGeom prst="rect">
            <a:avLst/>
          </a:prstGeom>
          <a:solidFill>
            <a:srgbClr val="F7FCFC"/>
          </a:solidFill>
          <a:ln w="6350">
            <a:solidFill>
              <a:srgbClr val="D7EFF0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0" name="Text 7"/>
          <p:cNvSpPr/>
          <p:nvPr/>
        </p:nvSpPr>
        <p:spPr>
          <a:xfrm>
            <a:off x="640080" y="24688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WQI = Σ(Wi × Qi) / Σ(Wi)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6206971"/>
              </p:ext>
            </p:extLst>
          </p:nvPr>
        </p:nvGraphicFramePr>
        <p:xfrm>
          <a:off x="640080" y="2979420"/>
          <a:ext cx="3749040" cy="17526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59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Παράμετρος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Όριο (Si)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Βάρος (Wi)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9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53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A53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9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53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Υπολειμματικό χλώριο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A53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9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53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Θολότητα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A53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9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53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Αργίλιο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A53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59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53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Χλωριούχα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A53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59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53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Αγωγιμότητα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A53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754880" y="1783080"/>
            <a:ext cx="3931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7EFF0"/>
            </a:solidFill>
            <a:prstDash val="solid"/>
          </a:ln>
          <a:effectLst>
            <a:outerShdw blurRad="152400" dist="38100" dir="5400000" algn="bl" rotWithShape="0">
              <a:srgbClr val="0F766E">
                <a:alpha val="8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13" name="Shape 9"/>
          <p:cNvSpPr/>
          <p:nvPr/>
        </p:nvSpPr>
        <p:spPr>
          <a:xfrm>
            <a:off x="4754880" y="1783080"/>
            <a:ext cx="73152" cy="493776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14" name="Shape 10"/>
          <p:cNvSpPr/>
          <p:nvPr/>
        </p:nvSpPr>
        <p:spPr>
          <a:xfrm>
            <a:off x="4937760" y="1901952"/>
            <a:ext cx="256032" cy="256032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15" name="Text 11"/>
          <p:cNvSpPr/>
          <p:nvPr/>
        </p:nvSpPr>
        <p:spPr>
          <a:xfrm>
            <a:off x="5303520" y="181965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0–25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675120" y="181965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Εξαιρετική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754880" y="2345436"/>
            <a:ext cx="3931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7EFF0"/>
            </a:solidFill>
            <a:prstDash val="solid"/>
          </a:ln>
          <a:effectLst>
            <a:outerShdw blurRad="152400" dist="38100" dir="5400000" algn="bl" rotWithShape="0">
              <a:srgbClr val="0F766E">
                <a:alpha val="8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18" name="Shape 14"/>
          <p:cNvSpPr/>
          <p:nvPr/>
        </p:nvSpPr>
        <p:spPr>
          <a:xfrm>
            <a:off x="4754880" y="2345436"/>
            <a:ext cx="73152" cy="493776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19" name="Shape 15"/>
          <p:cNvSpPr/>
          <p:nvPr/>
        </p:nvSpPr>
        <p:spPr>
          <a:xfrm>
            <a:off x="4937760" y="2464308"/>
            <a:ext cx="256032" cy="256032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20" name="Text 16"/>
          <p:cNvSpPr/>
          <p:nvPr/>
        </p:nvSpPr>
        <p:spPr>
          <a:xfrm>
            <a:off x="5303520" y="238201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26–50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675120" y="238201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Καλή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754880" y="2907792"/>
            <a:ext cx="3931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7EFF0"/>
            </a:solidFill>
            <a:prstDash val="solid"/>
          </a:ln>
          <a:effectLst>
            <a:outerShdw blurRad="152400" dist="38100" dir="5400000" algn="bl" rotWithShape="0">
              <a:srgbClr val="0F766E">
                <a:alpha val="8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23" name="Shape 19"/>
          <p:cNvSpPr/>
          <p:nvPr/>
        </p:nvSpPr>
        <p:spPr>
          <a:xfrm>
            <a:off x="4754880" y="2907792"/>
            <a:ext cx="73152" cy="4937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24" name="Shape 20"/>
          <p:cNvSpPr/>
          <p:nvPr/>
        </p:nvSpPr>
        <p:spPr>
          <a:xfrm>
            <a:off x="4937760" y="3026664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25" name="Text 21"/>
          <p:cNvSpPr/>
          <p:nvPr/>
        </p:nvSpPr>
        <p:spPr>
          <a:xfrm>
            <a:off x="5303520" y="294436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51–75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6675120" y="29443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Μέτρια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4754880" y="3470148"/>
            <a:ext cx="3931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7EFF0"/>
            </a:solidFill>
            <a:prstDash val="solid"/>
          </a:ln>
          <a:effectLst>
            <a:outerShdw blurRad="152400" dist="38100" dir="5400000" algn="bl" rotWithShape="0">
              <a:srgbClr val="0F766E">
                <a:alpha val="8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28" name="Shape 24"/>
          <p:cNvSpPr/>
          <p:nvPr/>
        </p:nvSpPr>
        <p:spPr>
          <a:xfrm>
            <a:off x="4754880" y="3470148"/>
            <a:ext cx="73152" cy="493776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29" name="Shape 25"/>
          <p:cNvSpPr/>
          <p:nvPr/>
        </p:nvSpPr>
        <p:spPr>
          <a:xfrm>
            <a:off x="4937760" y="3589020"/>
            <a:ext cx="256032" cy="256032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30" name="Text 26"/>
          <p:cNvSpPr/>
          <p:nvPr/>
        </p:nvSpPr>
        <p:spPr>
          <a:xfrm>
            <a:off x="5303520" y="350672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76–100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6675120" y="350672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Κακή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4754880" y="4032504"/>
            <a:ext cx="3931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7EFF0"/>
            </a:solidFill>
            <a:prstDash val="solid"/>
          </a:ln>
          <a:effectLst>
            <a:outerShdw blurRad="152400" dist="38100" dir="5400000" algn="bl" rotWithShape="0">
              <a:srgbClr val="0F766E">
                <a:alpha val="8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33" name="Shape 29"/>
          <p:cNvSpPr/>
          <p:nvPr/>
        </p:nvSpPr>
        <p:spPr>
          <a:xfrm>
            <a:off x="4754880" y="4032504"/>
            <a:ext cx="73152" cy="493776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34" name="Shape 30"/>
          <p:cNvSpPr/>
          <p:nvPr/>
        </p:nvSpPr>
        <p:spPr>
          <a:xfrm>
            <a:off x="4937760" y="4151376"/>
            <a:ext cx="256032" cy="256032"/>
          </a:xfrm>
          <a:prstGeom prst="ellipse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35" name="Text 31"/>
          <p:cNvSpPr/>
          <p:nvPr/>
        </p:nvSpPr>
        <p:spPr>
          <a:xfrm>
            <a:off x="5303520" y="4069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&gt;100</a:t>
            </a:r>
            <a:endParaRPr lang="en-US" sz="1300" dirty="0"/>
          </a:p>
        </p:txBody>
      </p:sp>
      <p:sp>
        <p:nvSpPr>
          <p:cNvPr id="36" name="Text 32"/>
          <p:cNvSpPr/>
          <p:nvPr/>
        </p:nvSpPr>
        <p:spPr>
          <a:xfrm>
            <a:off x="6675120" y="4069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Ακατάλληλο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ThessInfo • Περιβαλλοντικά Δεδομένα Θεσσαλονίκης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8229600" y="4800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DA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ENVIRONMENTAL QUALITY INDEX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EQI — Ο σύνθετος δείκτης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766560" y="82296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0F766E">
              <a:alpha val="12000"/>
            </a:srgbClr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5" name="Text 3"/>
          <p:cNvSpPr/>
          <p:nvPr/>
        </p:nvSpPr>
        <p:spPr>
          <a:xfrm>
            <a:off x="6766560" y="822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EQI ENGINE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Συνδυάζει AQI + WQI σε μια κοινή κλίμακα 0–100, με «έξυπνες» διορθώσεις όταν κάτι είναι κρίσιμο.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2011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FF0"/>
            </a:solidFill>
            <a:prstDash val="solid"/>
          </a:ln>
          <a:effectLst>
            <a:outerShdw blurRad="152400" dist="38100" dir="5400000" algn="bl" rotWithShape="0">
              <a:srgbClr val="0F766E">
                <a:alpha val="8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2011680" cy="73152"/>
          </a:xfrm>
          <a:prstGeom prst="rect">
            <a:avLst/>
          </a:prstGeom>
          <a:solidFill>
            <a:srgbClr val="1DAAAD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9" name="Text 7"/>
          <p:cNvSpPr/>
          <p:nvPr/>
        </p:nvSpPr>
        <p:spPr>
          <a:xfrm>
            <a:off x="621792" y="19476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Normalize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" y="233172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 (0–500) και WQI (0–200) σε κοινή κλίμακα 0–100 με piecewise breakpoints.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78608" y="1783080"/>
            <a:ext cx="2011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FF0"/>
            </a:solidFill>
            <a:prstDash val="solid"/>
          </a:ln>
          <a:effectLst>
            <a:outerShdw blurRad="152400" dist="38100" dir="5400000" algn="bl" rotWithShape="0">
              <a:srgbClr val="0F766E">
                <a:alpha val="8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12" name="Shape 10"/>
          <p:cNvSpPr/>
          <p:nvPr/>
        </p:nvSpPr>
        <p:spPr>
          <a:xfrm>
            <a:off x="2578608" y="1783080"/>
            <a:ext cx="2011680" cy="73152"/>
          </a:xfrm>
          <a:prstGeom prst="rect">
            <a:avLst/>
          </a:prstGeom>
          <a:solidFill>
            <a:srgbClr val="1DAAAD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13" name="Text 11"/>
          <p:cNvSpPr/>
          <p:nvPr/>
        </p:nvSpPr>
        <p:spPr>
          <a:xfrm>
            <a:off x="2743200" y="19476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Weighted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0" y="233172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 × air + 0.3 × water — ο αέρας ζυγίζει περισσότερο.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00016" y="1783080"/>
            <a:ext cx="2011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FF0"/>
            </a:solidFill>
            <a:prstDash val="solid"/>
          </a:ln>
          <a:effectLst>
            <a:outerShdw blurRad="152400" dist="38100" dir="5400000" algn="bl" rotWithShape="0">
              <a:srgbClr val="0F766E">
                <a:alpha val="8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16" name="Shape 14"/>
          <p:cNvSpPr/>
          <p:nvPr/>
        </p:nvSpPr>
        <p:spPr>
          <a:xfrm>
            <a:off x="4700016" y="1783080"/>
            <a:ext cx="2011680" cy="73152"/>
          </a:xfrm>
          <a:prstGeom prst="rect">
            <a:avLst/>
          </a:prstGeom>
          <a:solidFill>
            <a:srgbClr val="1DAAAD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17" name="Text 15"/>
          <p:cNvSpPr/>
          <p:nvPr/>
        </p:nvSpPr>
        <p:spPr>
          <a:xfrm>
            <a:off x="4864608" y="19476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Critical Override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64608" y="233172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 κάτι ≥ 60 (Unhealthy), EQI = max(weighted, worst × 0.85).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21424" y="1783080"/>
            <a:ext cx="2011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FF0"/>
            </a:solidFill>
            <a:prstDash val="solid"/>
          </a:ln>
          <a:effectLst>
            <a:outerShdw blurRad="152400" dist="38100" dir="5400000" algn="bl" rotWithShape="0">
              <a:srgbClr val="0F766E">
                <a:alpha val="8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20" name="Shape 18"/>
          <p:cNvSpPr/>
          <p:nvPr/>
        </p:nvSpPr>
        <p:spPr>
          <a:xfrm>
            <a:off x="6821424" y="1783080"/>
            <a:ext cx="2011680" cy="73152"/>
          </a:xfrm>
          <a:prstGeom prst="rect">
            <a:avLst/>
          </a:prstGeom>
          <a:solidFill>
            <a:srgbClr val="1DAAAD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21" name="Text 19"/>
          <p:cNvSpPr/>
          <p:nvPr/>
        </p:nvSpPr>
        <p:spPr>
          <a:xfrm>
            <a:off x="6986016" y="19476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Display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86016" y="233172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100 − raw → υψηλό = καλό. Bands: Εξαιρετική / Καλή / Μέτρια / Φτωχή.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47472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FF0"/>
            </a:solidFill>
            <a:prstDash val="solid"/>
          </a:ln>
          <a:effectLst>
            <a:outerShdw blurRad="152400" dist="38100" dir="5400000" algn="bl" rotWithShape="0">
              <a:srgbClr val="0F766E">
                <a:alpha val="8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24" name="Shape 22"/>
          <p:cNvSpPr/>
          <p:nvPr/>
        </p:nvSpPr>
        <p:spPr>
          <a:xfrm>
            <a:off x="594360" y="3675888"/>
            <a:ext cx="365760" cy="365760"/>
          </a:xfrm>
          <a:prstGeom prst="ellipse">
            <a:avLst/>
          </a:prstGeom>
          <a:solidFill>
            <a:srgbClr val="F59E0B">
              <a:alpha val="18000"/>
            </a:srgbClr>
          </a:solidFill>
          <a:ln/>
        </p:spPr>
        <p:txBody>
          <a:bodyPr/>
          <a:lstStyle/>
          <a:p>
            <a:endParaRPr lang="el-GR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739896"/>
            <a:ext cx="237744" cy="237744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051560" y="36118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Anti-masking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1051560" y="391363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Ένα κρίσιμα κακό μετρικό δεν μπορεί να κρυφτεί πίσω από ένα καλό.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310128" y="347472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FF0"/>
            </a:solidFill>
            <a:prstDash val="solid"/>
          </a:ln>
          <a:effectLst>
            <a:outerShdw blurRad="152400" dist="38100" dir="5400000" algn="bl" rotWithShape="0">
              <a:srgbClr val="0F766E">
                <a:alpha val="8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29" name="Shape 26"/>
          <p:cNvSpPr/>
          <p:nvPr/>
        </p:nvSpPr>
        <p:spPr>
          <a:xfrm>
            <a:off x="3447288" y="3675888"/>
            <a:ext cx="365760" cy="365760"/>
          </a:xfrm>
          <a:prstGeom prst="ellipse">
            <a:avLst/>
          </a:prstGeom>
          <a:solidFill>
            <a:srgbClr val="0F766E">
              <a:alpha val="18000"/>
            </a:srgbClr>
          </a:solidFill>
          <a:ln/>
        </p:spPr>
        <p:txBody>
          <a:bodyPr/>
          <a:lstStyle/>
          <a:p>
            <a:endParaRPr lang="el-GR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1296" y="3739896"/>
            <a:ext cx="237744" cy="237744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3904488" y="36118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Severity-based dominant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3904488" y="391363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«κυρίαρχος» παράγοντας προκύπτει από severity band, όχι από raw τιμή.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6163056" y="347472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FF0"/>
            </a:solidFill>
            <a:prstDash val="solid"/>
          </a:ln>
          <a:effectLst>
            <a:outerShdw blurRad="152400" dist="38100" dir="5400000" algn="bl" rotWithShape="0">
              <a:srgbClr val="0F766E">
                <a:alpha val="8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34" name="Shape 30"/>
          <p:cNvSpPr/>
          <p:nvPr/>
        </p:nvSpPr>
        <p:spPr>
          <a:xfrm>
            <a:off x="6300216" y="3675888"/>
            <a:ext cx="365760" cy="365760"/>
          </a:xfrm>
          <a:prstGeom prst="ellipse">
            <a:avLst/>
          </a:prstGeom>
          <a:solidFill>
            <a:srgbClr val="22C55E">
              <a:alpha val="18000"/>
            </a:srgbClr>
          </a:solidFill>
          <a:ln/>
        </p:spPr>
        <p:txBody>
          <a:bodyPr/>
          <a:lstStyle/>
          <a:p>
            <a:endParaRPr lang="el-GR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4" y="3739896"/>
            <a:ext cx="237744" cy="237744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6757416" y="36118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Band-aligned scales</a:t>
            </a:r>
            <a:endParaRPr lang="en-US" sz="1250" dirty="0"/>
          </a:p>
        </p:txBody>
      </p:sp>
      <p:sp>
        <p:nvSpPr>
          <p:cNvPr id="37" name="Text 32"/>
          <p:cNvSpPr/>
          <p:nvPr/>
        </p:nvSpPr>
        <p:spPr>
          <a:xfrm>
            <a:off x="6757416" y="391363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«Good AQI» ≈ «Excellent WQI» στην κανονικοποιημένη κλίμακα.</a:t>
            </a:r>
            <a:endParaRPr lang="en-US" sz="1000" dirty="0"/>
          </a:p>
        </p:txBody>
      </p:sp>
      <p:sp>
        <p:nvSpPr>
          <p:cNvPr id="38" name="Text 3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ThessInfo • Περιβαλλοντικά Δεδομένα Θεσσαλονίκης</a:t>
            </a:r>
            <a:endParaRPr lang="en-US" sz="900" dirty="0"/>
          </a:p>
        </p:txBody>
      </p:sp>
      <p:sp>
        <p:nvSpPr>
          <p:cNvPr id="39" name="Text 34"/>
          <p:cNvSpPr/>
          <p:nvPr/>
        </p:nvSpPr>
        <p:spPr>
          <a:xfrm>
            <a:off x="8229600" y="4800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DA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ΑΝΑΚΥΚΛΩΣΗ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Δύο δείκτες ανακύκλωσης ανά Δήμο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Συμμετοχή πολιτών αλλά και ποιότητα διαλογής — δύο διαφορετικές ιστορίες.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40233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FF0"/>
            </a:solidFill>
            <a:prstDash val="solid"/>
          </a:ln>
          <a:effectLst>
            <a:outerShdw blurRad="152400" dist="38100" dir="5400000" algn="bl" rotWithShape="0">
              <a:srgbClr val="0F766E">
                <a:alpha val="8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023360" cy="7315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502920" cy="502920"/>
          </a:xfrm>
          <a:prstGeom prst="ellipse">
            <a:avLst/>
          </a:prstGeom>
          <a:solidFill>
            <a:srgbClr val="22C55E">
              <a:alpha val="18000"/>
            </a:srgbClr>
          </a:solidFill>
          <a:ln/>
        </p:spPr>
        <p:txBody>
          <a:bodyPr/>
          <a:lstStyle/>
          <a:p>
            <a:endParaRPr lang="el-G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130552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2011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/ κάτοικο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4008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Συμμετοχή των πολιτών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2926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Δείχνει πόσα κιλά ανακυκλώσιμων υλικών συλλέγονται ανά άτομο.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" y="3520440"/>
            <a:ext cx="3657600" cy="640080"/>
          </a:xfrm>
          <a:prstGeom prst="rect">
            <a:avLst/>
          </a:prstGeom>
          <a:solidFill>
            <a:srgbClr val="F7FCFC"/>
          </a:solidFill>
          <a:ln w="6350">
            <a:solidFill>
              <a:srgbClr val="D7EFF0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3" name="Text 10"/>
          <p:cNvSpPr/>
          <p:nvPr/>
        </p:nvSpPr>
        <p:spPr>
          <a:xfrm>
            <a:off x="777240" y="352044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Όσο μεγαλύτερη η τιμή, τόσο μεγαλύτερη η συμμετοχή της κοινότητας.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63440" y="1783080"/>
            <a:ext cx="40233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FF0"/>
            </a:solidFill>
            <a:prstDash val="solid"/>
          </a:ln>
          <a:effectLst>
            <a:outerShdw blurRad="152400" dist="38100" dir="5400000" algn="bl" rotWithShape="0">
              <a:srgbClr val="0F766E">
                <a:alpha val="8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15" name="Shape 12"/>
          <p:cNvSpPr/>
          <p:nvPr/>
        </p:nvSpPr>
        <p:spPr>
          <a:xfrm>
            <a:off x="4663440" y="1783080"/>
            <a:ext cx="4023360" cy="73152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16" name="Shape 13"/>
          <p:cNvSpPr/>
          <p:nvPr/>
        </p:nvSpPr>
        <p:spPr>
          <a:xfrm>
            <a:off x="4846320" y="2011680"/>
            <a:ext cx="502920" cy="502920"/>
          </a:xfrm>
          <a:prstGeom prst="ellipse">
            <a:avLst/>
          </a:prstGeom>
          <a:solidFill>
            <a:srgbClr val="0F766E">
              <a:alpha val="18000"/>
            </a:srgbClr>
          </a:solidFill>
          <a:ln/>
        </p:spPr>
        <p:txBody>
          <a:bodyPr/>
          <a:lstStyle/>
          <a:p>
            <a:endParaRPr lang="el-GR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2130552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486400" y="2011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Ratio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484632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Ποιότητα διαλογής στο ΚΔΑΥ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846320" y="2926080"/>
            <a:ext cx="3657600" cy="502920"/>
          </a:xfrm>
          <a:prstGeom prst="rect">
            <a:avLst/>
          </a:prstGeom>
          <a:solidFill>
            <a:srgbClr val="F7FCFC"/>
          </a:solidFill>
          <a:ln w="6350">
            <a:solidFill>
              <a:srgbClr val="D7EFF0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1" name="Text 17"/>
          <p:cNvSpPr/>
          <p:nvPr/>
        </p:nvSpPr>
        <p:spPr>
          <a:xfrm>
            <a:off x="4846320" y="2926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Ανακυκλώσιμα / (Ανακυκλώσιμα + Υπόλειμμα)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846320" y="35204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«υπόλειμμα» είναι σκουπίδια που μπήκαν λάθος στον μπλε κάδο και τελικά καταλήγουν σε ταφή.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57200" y="4407408"/>
            <a:ext cx="8229600" cy="320040"/>
          </a:xfrm>
          <a:prstGeom prst="roundRect">
            <a:avLst>
              <a:gd name="adj" fmla="val 48571"/>
            </a:avLst>
          </a:prstGeom>
          <a:solidFill>
            <a:srgbClr val="F59E0B">
              <a:alpha val="12000"/>
            </a:srgbClr>
          </a:solidFill>
          <a:ln w="9525">
            <a:solidFill>
              <a:srgbClr val="F59E0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4" name="Text 20"/>
          <p:cNvSpPr/>
          <p:nvPr/>
        </p:nvSpPr>
        <p:spPr>
          <a:xfrm>
            <a:off x="457200" y="44074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Επιθυμητός στόχος: ~70% efficiency • Υψηλή απόδοση = σωστή διαλογή στην πηγή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ThessInfo • Περιβαλλοντικά Δεδομένα Θεσσαλονίκης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8229600" y="4800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DA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ΧΑΡΤΗΣ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Διαδραστικός χάρτης περιοχών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Πολύγωνα Δήμων χρωματισμένα από τον επιλεγμένο δείκτη — click για λεπτομέρειες ανά περιοχή.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212080" y="1783080"/>
            <a:ext cx="34747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FF0"/>
            </a:solidFill>
            <a:prstDash val="solid"/>
          </a:ln>
          <a:effectLst>
            <a:outerShdw blurRad="152400" dist="38100" dir="5400000" algn="bl" rotWithShape="0">
              <a:srgbClr val="0F766E">
                <a:alpha val="8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2011680"/>
            <a:ext cx="320040" cy="32004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806440" y="19476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modes επιλογής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394960" y="2697480"/>
            <a:ext cx="182880" cy="18288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22" name="Text 19"/>
          <p:cNvSpPr/>
          <p:nvPr/>
        </p:nvSpPr>
        <p:spPr>
          <a:xfrm>
            <a:off x="5669280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Συνολική Ποιότητα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772400" y="26060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EQI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394960" y="3154680"/>
            <a:ext cx="182880" cy="182880"/>
          </a:xfrm>
          <a:prstGeom prst="ellipse">
            <a:avLst/>
          </a:prstGeom>
          <a:solidFill>
            <a:srgbClr val="1DAAAD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25" name="Text 22"/>
          <p:cNvSpPr/>
          <p:nvPr/>
        </p:nvSpPr>
        <p:spPr>
          <a:xfrm>
            <a:off x="5669280" y="3063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Ποιότητα Αέρα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7772400" y="30632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394960" y="3611880"/>
            <a:ext cx="182880" cy="18288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28" name="Text 25"/>
          <p:cNvSpPr/>
          <p:nvPr/>
        </p:nvSpPr>
        <p:spPr>
          <a:xfrm>
            <a:off x="5669280" y="3520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Ποιότητα Νερού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7772400" y="35204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WQI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394960" y="4069080"/>
            <a:ext cx="182880" cy="18288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31" name="Text 28"/>
          <p:cNvSpPr/>
          <p:nvPr/>
        </p:nvSpPr>
        <p:spPr>
          <a:xfrm>
            <a:off x="5669280" y="3977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Ανακύκλωση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7772400" y="39776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kg/κάτ.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solidFill>
            <a:srgbClr val="0F766E">
              <a:alpha val="8000"/>
            </a:srgbClr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34" name="Text 31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Tooltip με live data σε hover • Click → MapSidebar με αναλυτικά</a:t>
            </a:r>
            <a:endParaRPr lang="en-US" sz="105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95E6E9FF-6C1B-E14D-F328-DCE0B04072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824" y="1777490"/>
            <a:ext cx="3717770" cy="34036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6DB1D01A-26AA-05B9-D173-46968E8F06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1" y="2164510"/>
            <a:ext cx="3720940" cy="23976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DA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LEADERBOARD &amp; REGION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Κατάταξη &amp; ανάλυση ανά Δήμο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Δύο διαφορετικές οπτικές των ίδιων δεδομένων: σύγκριση και βαθιά ανάλυση.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402336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FF0"/>
            </a:solidFill>
            <a:prstDash val="solid"/>
          </a:ln>
          <a:effectLst>
            <a:outerShdw blurRad="152400" dist="38100" dir="5400000" algn="bl" rotWithShape="0">
              <a:srgbClr val="0F766E">
                <a:alpha val="8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6596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920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0080" y="23317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Κατάταξη όλων των Δήμων ανά μετρική με 🥇🥈🥉 και χρωματικές αξιολογήσεις.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2880360"/>
            <a:ext cx="3657600" cy="310896"/>
          </a:xfrm>
          <a:prstGeom prst="rect">
            <a:avLst/>
          </a:prstGeom>
          <a:solidFill>
            <a:srgbClr val="FAFEFE"/>
          </a:solidFill>
          <a:ln w="6350">
            <a:solidFill>
              <a:srgbClr val="EEF7F7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0" name="Text 7"/>
          <p:cNvSpPr/>
          <p:nvPr/>
        </p:nvSpPr>
        <p:spPr>
          <a:xfrm>
            <a:off x="713232" y="288036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97280" y="28803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Πανόραμα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108960" y="288036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92.4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794760" y="2962656"/>
            <a:ext cx="146304" cy="14630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14" name="Shape 11"/>
          <p:cNvSpPr/>
          <p:nvPr/>
        </p:nvSpPr>
        <p:spPr>
          <a:xfrm>
            <a:off x="640080" y="3227832"/>
            <a:ext cx="3657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EF7F7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5" name="Text 12"/>
          <p:cNvSpPr/>
          <p:nvPr/>
        </p:nvSpPr>
        <p:spPr>
          <a:xfrm>
            <a:off x="713232" y="322783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097280" y="3227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Καλαμαριά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108960" y="322783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82.3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794760" y="3310128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19" name="Shape 16"/>
          <p:cNvSpPr/>
          <p:nvPr/>
        </p:nvSpPr>
        <p:spPr>
          <a:xfrm>
            <a:off x="640080" y="3575304"/>
            <a:ext cx="3657600" cy="310896"/>
          </a:xfrm>
          <a:prstGeom prst="rect">
            <a:avLst/>
          </a:prstGeom>
          <a:solidFill>
            <a:srgbClr val="FAFEFE"/>
          </a:solidFill>
          <a:ln w="6350">
            <a:solidFill>
              <a:srgbClr val="EEF7F7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0" name="Text 17"/>
          <p:cNvSpPr/>
          <p:nvPr/>
        </p:nvSpPr>
        <p:spPr>
          <a:xfrm>
            <a:off x="713232" y="357530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🥉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97280" y="357530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Θέρμη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108960" y="35753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78.1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794760" y="3657600"/>
            <a:ext cx="146304" cy="14630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24" name="Shape 21"/>
          <p:cNvSpPr/>
          <p:nvPr/>
        </p:nvSpPr>
        <p:spPr>
          <a:xfrm>
            <a:off x="640080" y="3922776"/>
            <a:ext cx="3657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EF7F7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5" name="Text 22"/>
          <p:cNvSpPr/>
          <p:nvPr/>
        </p:nvSpPr>
        <p:spPr>
          <a:xfrm>
            <a:off x="713232" y="392277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097280" y="392277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Πυλαία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108960" y="392277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65.7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3794760" y="4005072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29" name="Shape 26"/>
          <p:cNvSpPr/>
          <p:nvPr/>
        </p:nvSpPr>
        <p:spPr>
          <a:xfrm>
            <a:off x="640080" y="4270248"/>
            <a:ext cx="3657600" cy="310896"/>
          </a:xfrm>
          <a:prstGeom prst="rect">
            <a:avLst/>
          </a:prstGeom>
          <a:solidFill>
            <a:srgbClr val="FAFEFE"/>
          </a:solidFill>
          <a:ln w="6350">
            <a:solidFill>
              <a:srgbClr val="EEF7F7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30" name="Text 27"/>
          <p:cNvSpPr/>
          <p:nvPr/>
        </p:nvSpPr>
        <p:spPr>
          <a:xfrm>
            <a:off x="713232" y="427024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1097280" y="427024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Θεσσαλονίκη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3108960" y="427024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48.2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3794760" y="4352544"/>
            <a:ext cx="146304" cy="146304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34" name="Shape 31"/>
          <p:cNvSpPr/>
          <p:nvPr/>
        </p:nvSpPr>
        <p:spPr>
          <a:xfrm>
            <a:off x="4663440" y="1783080"/>
            <a:ext cx="402336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FF0"/>
            </a:solidFill>
            <a:prstDash val="solid"/>
          </a:ln>
          <a:effectLst>
            <a:outerShdw blurRad="152400" dist="38100" dir="5400000" algn="bl" rotWithShape="0">
              <a:srgbClr val="0F766E">
                <a:alpha val="8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965960"/>
            <a:ext cx="292608" cy="292608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5212080" y="1920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Αποτελέσματα ανά Δήμο</a:t>
            </a:r>
            <a:endParaRPr lang="en-US" sz="1700" dirty="0"/>
          </a:p>
        </p:txBody>
      </p:sp>
      <p:sp>
        <p:nvSpPr>
          <p:cNvPr id="37" name="Text 33"/>
          <p:cNvSpPr/>
          <p:nvPr/>
        </p:nvSpPr>
        <p:spPr>
          <a:xfrm>
            <a:off x="4846320" y="23317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Δυναμικές σελίδες /services/[slug] με tabs για κάθε θεματική.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4846320" y="292608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0891B2">
              <a:alpha val="20000"/>
            </a:srgbClr>
          </a:solidFill>
          <a:ln w="15875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39" name="Text 35"/>
          <p:cNvSpPr/>
          <p:nvPr/>
        </p:nvSpPr>
        <p:spPr>
          <a:xfrm>
            <a:off x="4846320" y="2926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Νερό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6080760" y="292608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7EFF0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41" name="Text 37"/>
          <p:cNvSpPr/>
          <p:nvPr/>
        </p:nvSpPr>
        <p:spPr>
          <a:xfrm>
            <a:off x="6080760" y="2926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💨 Αέρας</a:t>
            </a:r>
            <a:endParaRPr lang="en-US" sz="1000" dirty="0"/>
          </a:p>
        </p:txBody>
      </p:sp>
      <p:sp>
        <p:nvSpPr>
          <p:cNvPr id="42" name="Shape 38"/>
          <p:cNvSpPr/>
          <p:nvPr/>
        </p:nvSpPr>
        <p:spPr>
          <a:xfrm>
            <a:off x="7315200" y="292608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7EFF0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43" name="Text 39"/>
          <p:cNvSpPr/>
          <p:nvPr/>
        </p:nvSpPr>
        <p:spPr>
          <a:xfrm>
            <a:off x="7315200" y="2926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Ανακύκλωση</a:t>
            </a:r>
            <a:endParaRPr lang="en-US" sz="1000" dirty="0"/>
          </a:p>
        </p:txBody>
      </p:sp>
      <p:sp>
        <p:nvSpPr>
          <p:cNvPr id="44" name="Shape 40"/>
          <p:cNvSpPr/>
          <p:nvPr/>
        </p:nvSpPr>
        <p:spPr>
          <a:xfrm>
            <a:off x="4846320" y="3429000"/>
            <a:ext cx="3657600" cy="1143000"/>
          </a:xfrm>
          <a:prstGeom prst="rect">
            <a:avLst/>
          </a:prstGeom>
          <a:solidFill>
            <a:srgbClr val="F7FCFC"/>
          </a:solidFill>
          <a:ln w="6350">
            <a:solidFill>
              <a:srgbClr val="D7EFF0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45" name="Shape 41"/>
          <p:cNvSpPr/>
          <p:nvPr/>
        </p:nvSpPr>
        <p:spPr>
          <a:xfrm>
            <a:off x="4983480" y="4041648"/>
            <a:ext cx="292608" cy="457200"/>
          </a:xfrm>
          <a:prstGeom prst="rect">
            <a:avLst/>
          </a:prstGeom>
          <a:solidFill>
            <a:srgbClr val="0891B2">
              <a:alpha val="75000"/>
            </a:srgbClr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46" name="Shape 42"/>
          <p:cNvSpPr/>
          <p:nvPr/>
        </p:nvSpPr>
        <p:spPr>
          <a:xfrm>
            <a:off x="5404104" y="3767328"/>
            <a:ext cx="292608" cy="731520"/>
          </a:xfrm>
          <a:prstGeom prst="rect">
            <a:avLst/>
          </a:prstGeom>
          <a:solidFill>
            <a:srgbClr val="0891B2">
              <a:alpha val="77000"/>
            </a:srgbClr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47" name="Shape 43"/>
          <p:cNvSpPr/>
          <p:nvPr/>
        </p:nvSpPr>
        <p:spPr>
          <a:xfrm>
            <a:off x="5824728" y="3950208"/>
            <a:ext cx="292608" cy="548640"/>
          </a:xfrm>
          <a:prstGeom prst="rect">
            <a:avLst/>
          </a:prstGeom>
          <a:solidFill>
            <a:srgbClr val="0891B2">
              <a:alpha val="79000"/>
            </a:srgbClr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48" name="Shape 44"/>
          <p:cNvSpPr/>
          <p:nvPr/>
        </p:nvSpPr>
        <p:spPr>
          <a:xfrm>
            <a:off x="6245352" y="3630168"/>
            <a:ext cx="292608" cy="868680"/>
          </a:xfrm>
          <a:prstGeom prst="rect">
            <a:avLst/>
          </a:prstGeom>
          <a:solidFill>
            <a:srgbClr val="0891B2">
              <a:alpha val="81000"/>
            </a:srgbClr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49" name="Shape 45"/>
          <p:cNvSpPr/>
          <p:nvPr/>
        </p:nvSpPr>
        <p:spPr>
          <a:xfrm>
            <a:off x="6665976" y="3858768"/>
            <a:ext cx="292608" cy="640080"/>
          </a:xfrm>
          <a:prstGeom prst="rect">
            <a:avLst/>
          </a:prstGeom>
          <a:solidFill>
            <a:srgbClr val="0891B2">
              <a:alpha val="83000"/>
            </a:srgbClr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50" name="Shape 46"/>
          <p:cNvSpPr/>
          <p:nvPr/>
        </p:nvSpPr>
        <p:spPr>
          <a:xfrm>
            <a:off x="7086600" y="4133088"/>
            <a:ext cx="292608" cy="365760"/>
          </a:xfrm>
          <a:prstGeom prst="rect">
            <a:avLst/>
          </a:prstGeom>
          <a:solidFill>
            <a:srgbClr val="0891B2">
              <a:alpha val="85000"/>
            </a:srgbClr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51" name="Shape 47"/>
          <p:cNvSpPr/>
          <p:nvPr/>
        </p:nvSpPr>
        <p:spPr>
          <a:xfrm>
            <a:off x="7507224" y="3721608"/>
            <a:ext cx="292608" cy="777240"/>
          </a:xfrm>
          <a:prstGeom prst="rect">
            <a:avLst/>
          </a:prstGeom>
          <a:solidFill>
            <a:srgbClr val="0891B2">
              <a:alpha val="87000"/>
            </a:srgbClr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52" name="Shape 48"/>
          <p:cNvSpPr/>
          <p:nvPr/>
        </p:nvSpPr>
        <p:spPr>
          <a:xfrm>
            <a:off x="7927848" y="4041648"/>
            <a:ext cx="292608" cy="457200"/>
          </a:xfrm>
          <a:prstGeom prst="rect">
            <a:avLst/>
          </a:prstGeom>
          <a:solidFill>
            <a:srgbClr val="0891B2">
              <a:alpha val="89000"/>
            </a:srgbClr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53" name="Text 49"/>
          <p:cNvSpPr/>
          <p:nvPr/>
        </p:nvSpPr>
        <p:spPr>
          <a:xfrm>
            <a:off x="4846320" y="34564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Μηνιαία WQI εξέλιξη</a:t>
            </a:r>
            <a:endParaRPr lang="en-US" sz="950" dirty="0"/>
          </a:p>
        </p:txBody>
      </p:sp>
      <p:sp>
        <p:nvSpPr>
          <p:cNvPr id="54" name="Text 5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ThessInfo • Περιβαλλοντικά Δεδομένα Θεσσαλονίκης</a:t>
            </a:r>
            <a:endParaRPr lang="en-US" sz="900" dirty="0"/>
          </a:p>
        </p:txBody>
      </p:sp>
      <p:sp>
        <p:nvSpPr>
          <p:cNvPr id="55" name="Text 51"/>
          <p:cNvSpPr/>
          <p:nvPr/>
        </p:nvSpPr>
        <p:spPr>
          <a:xfrm>
            <a:off x="8229600" y="4800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DA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TECH STACK &amp; DATA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Τεχνολογίες &amp; ροή δεδομένων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stack επιλεγμένο για ταχύτητα, καθαρότητα κώδικα και developer experience.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8229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FF0"/>
            </a:solidFill>
            <a:prstDash val="solid"/>
          </a:ln>
          <a:effectLst>
            <a:outerShdw blurRad="152400" dist="38100" dir="5400000" algn="bl" rotWithShape="0">
              <a:srgbClr val="0F766E">
                <a:alpha val="8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DA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ΡΟΗ ΔΕΔΟΜΕΝΩΝ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1280160" cy="777240"/>
          </a:xfrm>
          <a:prstGeom prst="rect">
            <a:avLst/>
          </a:prstGeom>
          <a:solidFill>
            <a:srgbClr val="F7FCFC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46888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2286000"/>
            <a:ext cx="68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Datasheets</a:t>
            </a:r>
            <a:endParaRPr lang="en-US" sz="9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0" y="2578608"/>
            <a:ext cx="228600" cy="2286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331720" y="2286000"/>
            <a:ext cx="1280160" cy="777240"/>
          </a:xfrm>
          <a:prstGeom prst="rect">
            <a:avLst/>
          </a:prstGeom>
          <a:solidFill>
            <a:srgbClr val="F7FCFC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8880" y="246888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880360" y="2286000"/>
            <a:ext cx="68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9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2578608"/>
            <a:ext cx="228600" cy="22860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4023360" y="2286000"/>
            <a:ext cx="1280160" cy="777240"/>
          </a:xfrm>
          <a:prstGeom prst="rect">
            <a:avLst/>
          </a:prstGeom>
          <a:solidFill>
            <a:srgbClr val="F7FCFC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0520" y="2468880"/>
            <a:ext cx="411480" cy="4114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572000" y="2286000"/>
            <a:ext cx="68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EQI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9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2578608"/>
            <a:ext cx="228600" cy="22860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5715000" y="2286000"/>
            <a:ext cx="1280160" cy="777240"/>
          </a:xfrm>
          <a:prstGeom prst="rect">
            <a:avLst/>
          </a:prstGeom>
          <a:solidFill>
            <a:srgbClr val="F7FCFC"/>
          </a:solidFill>
          <a:ln w="12700">
            <a:solidFill>
              <a:srgbClr val="1DAAAD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160" y="2468880"/>
            <a:ext cx="411480" cy="41148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263640" y="2286000"/>
            <a:ext cx="68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Zustand</a:t>
            </a:r>
            <a:endParaRPr lang="en-US" sz="95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2578608"/>
            <a:ext cx="228600" cy="228600"/>
          </a:xfrm>
          <a:prstGeom prst="rect">
            <a:avLst/>
          </a:prstGeom>
        </p:spPr>
      </p:pic>
      <p:sp>
        <p:nvSpPr>
          <p:cNvPr id="23" name="Shape 13"/>
          <p:cNvSpPr/>
          <p:nvPr/>
        </p:nvSpPr>
        <p:spPr>
          <a:xfrm>
            <a:off x="7406640" y="2286000"/>
            <a:ext cx="1280160" cy="777240"/>
          </a:xfrm>
          <a:prstGeom prst="rect">
            <a:avLst/>
          </a:prstGeom>
          <a:solidFill>
            <a:srgbClr val="F7FCFC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3800" y="2468880"/>
            <a:ext cx="411480" cy="41148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7955280" y="2286000"/>
            <a:ext cx="68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Χρήστης</a:t>
            </a:r>
            <a:endParaRPr lang="en-US" sz="950" dirty="0"/>
          </a:p>
        </p:txBody>
      </p:sp>
      <p:sp>
        <p:nvSpPr>
          <p:cNvPr id="26" name="Shape 15"/>
          <p:cNvSpPr/>
          <p:nvPr/>
        </p:nvSpPr>
        <p:spPr>
          <a:xfrm>
            <a:off x="457200" y="333756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FF0"/>
            </a:solidFill>
            <a:prstDash val="solid"/>
          </a:ln>
          <a:effectLst>
            <a:outerShdw blurRad="152400" dist="38100" dir="5400000" algn="bl" rotWithShape="0">
              <a:srgbClr val="0F766E">
                <a:alpha val="8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27" name="Shape 16"/>
          <p:cNvSpPr/>
          <p:nvPr/>
        </p:nvSpPr>
        <p:spPr>
          <a:xfrm>
            <a:off x="640080" y="3520440"/>
            <a:ext cx="411480" cy="411480"/>
          </a:xfrm>
          <a:prstGeom prst="ellipse">
            <a:avLst/>
          </a:prstGeom>
          <a:solidFill>
            <a:srgbClr val="0F766E">
              <a:alpha val="18000"/>
            </a:srgbClr>
          </a:solidFill>
          <a:ln/>
        </p:spPr>
        <p:txBody>
          <a:bodyPr/>
          <a:lstStyle/>
          <a:p>
            <a:endParaRPr lang="el-GR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" y="3611880"/>
            <a:ext cx="228600" cy="22860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1143000" y="34930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Stack</a:t>
            </a:r>
            <a:endParaRPr lang="en-US" sz="1400" dirty="0"/>
          </a:p>
        </p:txBody>
      </p:sp>
      <p:sp>
        <p:nvSpPr>
          <p:cNvPr id="30" name="Text 18"/>
          <p:cNvSpPr/>
          <p:nvPr/>
        </p:nvSpPr>
        <p:spPr>
          <a:xfrm>
            <a:off x="731520" y="39319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0.135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(serverless)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lru_cache + structured JSON</a:t>
            </a:r>
            <a:endParaRPr lang="en-US" sz="1100" dirty="0"/>
          </a:p>
        </p:txBody>
      </p:sp>
      <p:sp>
        <p:nvSpPr>
          <p:cNvPr id="31" name="Shape 19"/>
          <p:cNvSpPr/>
          <p:nvPr/>
        </p:nvSpPr>
        <p:spPr>
          <a:xfrm>
            <a:off x="4663440" y="333756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FF0"/>
            </a:solidFill>
            <a:prstDash val="solid"/>
          </a:ln>
          <a:effectLst>
            <a:outerShdw blurRad="152400" dist="38100" dir="5400000" algn="bl" rotWithShape="0">
              <a:srgbClr val="0F766E">
                <a:alpha val="8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32" name="Shape 20"/>
          <p:cNvSpPr/>
          <p:nvPr/>
        </p:nvSpPr>
        <p:spPr>
          <a:xfrm>
            <a:off x="4846320" y="3520440"/>
            <a:ext cx="411480" cy="411480"/>
          </a:xfrm>
          <a:prstGeom prst="ellipse">
            <a:avLst/>
          </a:prstGeom>
          <a:solidFill>
            <a:srgbClr val="1DAAAD">
              <a:alpha val="18000"/>
            </a:srgbClr>
          </a:solidFill>
          <a:ln/>
        </p:spPr>
        <p:txBody>
          <a:bodyPr/>
          <a:lstStyle/>
          <a:p>
            <a:endParaRPr lang="el-GR"/>
          </a:p>
        </p:txBody>
      </p:sp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3611880"/>
            <a:ext cx="228600" cy="228600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5349240" y="34930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Stack</a:t>
            </a:r>
            <a:endParaRPr lang="en-US" sz="1400" dirty="0"/>
          </a:p>
        </p:txBody>
      </p:sp>
      <p:sp>
        <p:nvSpPr>
          <p:cNvPr id="35" name="Text 22"/>
          <p:cNvSpPr/>
          <p:nvPr/>
        </p:nvSpPr>
        <p:spPr>
          <a:xfrm>
            <a:off x="4937760" y="39319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(App Router)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4 + shadcn/ui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• Recharts • Zustand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D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1828800"/>
            <a:ext cx="5486400" cy="5486400"/>
          </a:xfrm>
          <a:prstGeom prst="ellipse">
            <a:avLst/>
          </a:prstGeom>
          <a:solidFill>
            <a:srgbClr val="1DAAAD">
              <a:alpha val="12000"/>
            </a:srgbClr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22C55E">
              <a:alpha val="10000"/>
            </a:srgbClr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800" dirty="0">
                <a:solidFill>
                  <a:srgbClr val="1DA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ΟΛΟΚΛΗΡΩΣΗ ΠΑΡΟΥΣΙΑΣΗΣ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023360" cy="329184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DAAAD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6" name="Shape 4"/>
          <p:cNvSpPr/>
          <p:nvPr/>
        </p:nvSpPr>
        <p:spPr>
          <a:xfrm>
            <a:off x="1965960" y="1600200"/>
            <a:ext cx="1005840" cy="1005840"/>
          </a:xfrm>
          <a:prstGeom prst="ellipse">
            <a:avLst/>
          </a:prstGeom>
          <a:solidFill>
            <a:srgbClr val="1DAAAD">
              <a:alpha val="30000"/>
            </a:srgbClr>
          </a:solidFill>
          <a:ln w="12700">
            <a:solidFill>
              <a:srgbClr val="1DAAAD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182880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74320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457200" y="3749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Ερωτήσεις &amp; Συζήτηση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63440" y="1234440"/>
            <a:ext cx="4023360" cy="329184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1" name="Shape 8"/>
          <p:cNvSpPr/>
          <p:nvPr/>
        </p:nvSpPr>
        <p:spPr>
          <a:xfrm>
            <a:off x="6172200" y="1600200"/>
            <a:ext cx="1005840" cy="1005840"/>
          </a:xfrm>
          <a:prstGeom prst="ellipse">
            <a:avLst/>
          </a:prstGeom>
          <a:solidFill>
            <a:srgbClr val="22C55E">
              <a:alpha val="30000"/>
            </a:srgbClr>
          </a:solidFill>
          <a:ln w="12700">
            <a:solidFill>
              <a:srgbClr val="22C55E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82880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274320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6000" dirty="0"/>
          </a:p>
        </p:txBody>
      </p:sp>
      <p:sp>
        <p:nvSpPr>
          <p:cNvPr id="14" name="Text 10"/>
          <p:cNvSpPr/>
          <p:nvPr/>
        </p:nvSpPr>
        <p:spPr>
          <a:xfrm>
            <a:off x="4663440" y="3749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 της εφαρμογής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57200" y="4617720"/>
            <a:ext cx="365760" cy="22860"/>
          </a:xfrm>
          <a:prstGeom prst="rect">
            <a:avLst/>
          </a:prstGeom>
          <a:solidFill>
            <a:srgbClr val="1DAAAD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16" name="Text 12"/>
          <p:cNvSpPr/>
          <p:nvPr/>
        </p:nvSpPr>
        <p:spPr>
          <a:xfrm>
            <a:off x="457200" y="4709160"/>
            <a:ext cx="7598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ΔΙ.ΠΑ.Ε.  —  ΤΜΗΜΑ ΜΗΧΑΝΙΚΩΝ ΠΛΗΡΟΦΟΡΙΚΗΣ</a:t>
            </a:r>
            <a:r>
              <a:rPr lang="el-GR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ΚΑΙ ΗΛΕΚΤΡΟΝΙΚΩΝ ΣΥΣΤΗΜΑΤΩΝ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657600" y="4709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1062</Words>
  <Application>Microsoft Office PowerPoint</Application>
  <PresentationFormat>On-screen Show (16:9)</PresentationFormat>
  <Paragraphs>234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ΔΙ.ΠΑ.Ε. — Τμήμα Μηχανικών Πληροφορικής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ThessInfo — Παρουσίαση Εφαρμογής</dc:title>
  <dc:subject>Διαδικτυακές Υπηρεσίες Προστιθέμενης Αξίας — 8ο Εξάμηνο</dc:subject>
  <dc:creator>Ρετσιλάς Γεώργιος (ΑΜ 2022143), Σαλτσίδης Ηλίας (ΑΜ 2022149)</dc:creator>
  <cp:lastModifiedBy>Georgios Retsilas</cp:lastModifiedBy>
  <cp:revision>2</cp:revision>
  <dcterms:created xsi:type="dcterms:W3CDTF">2026-05-15T16:49:06Z</dcterms:created>
  <dcterms:modified xsi:type="dcterms:W3CDTF">2026-05-15T16:56:11Z</dcterms:modified>
</cp:coreProperties>
</file>